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Quicksand Bold" charset="1" panose="00000000000000000000"/>
      <p:regular r:id="rId23"/>
    </p:embeddedFont>
    <p:embeddedFont>
      <p:font typeface="Quicksand" charset="1" panose="00000000000000000000"/>
      <p:regular r:id="rId24"/>
    </p:embeddedFont>
    <p:embeddedFont>
      <p:font typeface="Cormorant Garamond Bold Italics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506917"/>
            <a:ext cx="16229942" cy="303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89"/>
              </a:lnSpc>
              <a:spcBef>
                <a:spcPct val="0"/>
              </a:spcBef>
            </a:pPr>
            <a:r>
              <a:rPr lang="en-US" b="true" sz="1777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MSPR TPRE501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08475"/>
            <a:ext cx="12812922" cy="240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4"/>
              </a:lnSpc>
            </a:pPr>
            <a:r>
              <a:rPr lang="en-US" sz="458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Créer un modèle de données d'une solution I.A en utilisant des</a:t>
            </a:r>
          </a:p>
          <a:p>
            <a:pPr algn="ctr" marL="0" indent="0" lvl="0">
              <a:lnSpc>
                <a:spcPts val="6424"/>
              </a:lnSpc>
              <a:spcBef>
                <a:spcPct val="0"/>
              </a:spcBef>
            </a:pPr>
            <a:r>
              <a:rPr lang="en-US" sz="458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méthodes de Data sciences.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2179" y="1967581"/>
            <a:ext cx="11643643" cy="52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Réalisé par Florent, Tojoniaina, Gael et Alessia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1552258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922434" y="8387256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28556" y="9235774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12390" y="2109892"/>
            <a:ext cx="4869180" cy="2578363"/>
            <a:chOff x="0" y="0"/>
            <a:chExt cx="1282418" cy="679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18" cy="679075"/>
            </a:xfrm>
            <a:custGeom>
              <a:avLst/>
              <a:gdLst/>
              <a:ahLst/>
              <a:cxnLst/>
              <a:rect r="r" b="b" t="t" l="l"/>
              <a:pathLst>
                <a:path h="679075" w="1282418">
                  <a:moveTo>
                    <a:pt x="81089" y="0"/>
                  </a:moveTo>
                  <a:lnTo>
                    <a:pt x="1201329" y="0"/>
                  </a:lnTo>
                  <a:cubicBezTo>
                    <a:pt x="1246113" y="0"/>
                    <a:pt x="1282418" y="36305"/>
                    <a:pt x="1282418" y="81089"/>
                  </a:cubicBezTo>
                  <a:lnTo>
                    <a:pt x="1282418" y="597986"/>
                  </a:lnTo>
                  <a:cubicBezTo>
                    <a:pt x="1282418" y="642770"/>
                    <a:pt x="1246113" y="679075"/>
                    <a:pt x="1201329" y="679075"/>
                  </a:cubicBezTo>
                  <a:lnTo>
                    <a:pt x="81089" y="679075"/>
                  </a:lnTo>
                  <a:cubicBezTo>
                    <a:pt x="36305" y="679075"/>
                    <a:pt x="0" y="642770"/>
                    <a:pt x="0" y="597986"/>
                  </a:cubicBezTo>
                  <a:lnTo>
                    <a:pt x="0" y="81089"/>
                  </a:lnTo>
                  <a:cubicBezTo>
                    <a:pt x="0" y="36305"/>
                    <a:pt x="36305" y="0"/>
                    <a:pt x="810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8F8F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1282418" cy="85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1</a:t>
              </a:r>
            </a:p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Introduction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567506" y="428942"/>
            <a:ext cx="315298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Sommaire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0646" y="2109892"/>
            <a:ext cx="4798060" cy="2578363"/>
            <a:chOff x="0" y="0"/>
            <a:chExt cx="1263687" cy="679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3687" cy="679075"/>
            </a:xfrm>
            <a:custGeom>
              <a:avLst/>
              <a:gdLst/>
              <a:ahLst/>
              <a:cxnLst/>
              <a:rect r="r" b="b" t="t" l="l"/>
              <a:pathLst>
                <a:path h="679075" w="1263687">
                  <a:moveTo>
                    <a:pt x="82291" y="0"/>
                  </a:moveTo>
                  <a:lnTo>
                    <a:pt x="1181395" y="0"/>
                  </a:lnTo>
                  <a:cubicBezTo>
                    <a:pt x="1226844" y="0"/>
                    <a:pt x="1263687" y="36843"/>
                    <a:pt x="1263687" y="82291"/>
                  </a:cubicBezTo>
                  <a:lnTo>
                    <a:pt x="1263687" y="596784"/>
                  </a:lnTo>
                  <a:cubicBezTo>
                    <a:pt x="1263687" y="642232"/>
                    <a:pt x="1226844" y="679075"/>
                    <a:pt x="1181395" y="679075"/>
                  </a:cubicBezTo>
                  <a:lnTo>
                    <a:pt x="82291" y="679075"/>
                  </a:lnTo>
                  <a:cubicBezTo>
                    <a:pt x="60466" y="679075"/>
                    <a:pt x="39535" y="670405"/>
                    <a:pt x="24103" y="654972"/>
                  </a:cubicBezTo>
                  <a:cubicBezTo>
                    <a:pt x="8670" y="639540"/>
                    <a:pt x="0" y="618609"/>
                    <a:pt x="0" y="596784"/>
                  </a:cubicBezTo>
                  <a:lnTo>
                    <a:pt x="0" y="82291"/>
                  </a:lnTo>
                  <a:cubicBezTo>
                    <a:pt x="0" y="36843"/>
                    <a:pt x="36843" y="0"/>
                    <a:pt x="822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8F8F8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71450"/>
              <a:ext cx="1263687" cy="85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2</a:t>
              </a:r>
            </a:p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Modèles de données &amp; Base de données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74007" y="2109892"/>
            <a:ext cx="5001603" cy="2578363"/>
            <a:chOff x="0" y="0"/>
            <a:chExt cx="1317295" cy="6790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7295" cy="679075"/>
            </a:xfrm>
            <a:custGeom>
              <a:avLst/>
              <a:gdLst/>
              <a:ahLst/>
              <a:cxnLst/>
              <a:rect r="r" b="b" t="t" l="l"/>
              <a:pathLst>
                <a:path h="679075" w="1317295">
                  <a:moveTo>
                    <a:pt x="78942" y="0"/>
                  </a:moveTo>
                  <a:lnTo>
                    <a:pt x="1238352" y="0"/>
                  </a:lnTo>
                  <a:cubicBezTo>
                    <a:pt x="1281951" y="0"/>
                    <a:pt x="1317295" y="35344"/>
                    <a:pt x="1317295" y="78942"/>
                  </a:cubicBezTo>
                  <a:lnTo>
                    <a:pt x="1317295" y="600133"/>
                  </a:lnTo>
                  <a:cubicBezTo>
                    <a:pt x="1317295" y="643731"/>
                    <a:pt x="1281951" y="679075"/>
                    <a:pt x="1238352" y="679075"/>
                  </a:cubicBezTo>
                  <a:lnTo>
                    <a:pt x="78942" y="679075"/>
                  </a:lnTo>
                  <a:cubicBezTo>
                    <a:pt x="35344" y="679075"/>
                    <a:pt x="0" y="643731"/>
                    <a:pt x="0" y="600133"/>
                  </a:cubicBezTo>
                  <a:lnTo>
                    <a:pt x="0" y="78942"/>
                  </a:lnTo>
                  <a:cubicBezTo>
                    <a:pt x="0" y="35344"/>
                    <a:pt x="35344" y="0"/>
                    <a:pt x="789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8F8F8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71450"/>
              <a:ext cx="1317295" cy="85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3</a:t>
              </a:r>
            </a:p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Processus ETL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12390" y="5251259"/>
            <a:ext cx="4869180" cy="2578363"/>
            <a:chOff x="0" y="0"/>
            <a:chExt cx="1282418" cy="6790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2418" cy="679075"/>
            </a:xfrm>
            <a:custGeom>
              <a:avLst/>
              <a:gdLst/>
              <a:ahLst/>
              <a:cxnLst/>
              <a:rect r="r" b="b" t="t" l="l"/>
              <a:pathLst>
                <a:path h="679075" w="1282418">
                  <a:moveTo>
                    <a:pt x="81089" y="0"/>
                  </a:moveTo>
                  <a:lnTo>
                    <a:pt x="1201329" y="0"/>
                  </a:lnTo>
                  <a:cubicBezTo>
                    <a:pt x="1246113" y="0"/>
                    <a:pt x="1282418" y="36305"/>
                    <a:pt x="1282418" y="81089"/>
                  </a:cubicBezTo>
                  <a:lnTo>
                    <a:pt x="1282418" y="597986"/>
                  </a:lnTo>
                  <a:cubicBezTo>
                    <a:pt x="1282418" y="642770"/>
                    <a:pt x="1246113" y="679075"/>
                    <a:pt x="1201329" y="679075"/>
                  </a:cubicBezTo>
                  <a:lnTo>
                    <a:pt x="81089" y="679075"/>
                  </a:lnTo>
                  <a:cubicBezTo>
                    <a:pt x="36305" y="679075"/>
                    <a:pt x="0" y="642770"/>
                    <a:pt x="0" y="597986"/>
                  </a:cubicBezTo>
                  <a:lnTo>
                    <a:pt x="0" y="81089"/>
                  </a:lnTo>
                  <a:cubicBezTo>
                    <a:pt x="0" y="36305"/>
                    <a:pt x="36305" y="0"/>
                    <a:pt x="810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8F8F8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71450"/>
              <a:ext cx="1282418" cy="85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4</a:t>
              </a:r>
            </a:p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API &amp; Manipulation des données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00646" y="5251259"/>
            <a:ext cx="4959036" cy="2578363"/>
            <a:chOff x="0" y="0"/>
            <a:chExt cx="1306084" cy="6790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6084" cy="679075"/>
            </a:xfrm>
            <a:custGeom>
              <a:avLst/>
              <a:gdLst/>
              <a:ahLst/>
              <a:cxnLst/>
              <a:rect r="r" b="b" t="t" l="l"/>
              <a:pathLst>
                <a:path h="679075" w="1306084">
                  <a:moveTo>
                    <a:pt x="79620" y="0"/>
                  </a:moveTo>
                  <a:lnTo>
                    <a:pt x="1226464" y="0"/>
                  </a:lnTo>
                  <a:cubicBezTo>
                    <a:pt x="1270437" y="0"/>
                    <a:pt x="1306084" y="35647"/>
                    <a:pt x="1306084" y="79620"/>
                  </a:cubicBezTo>
                  <a:lnTo>
                    <a:pt x="1306084" y="599455"/>
                  </a:lnTo>
                  <a:cubicBezTo>
                    <a:pt x="1306084" y="643428"/>
                    <a:pt x="1270437" y="679075"/>
                    <a:pt x="1226464" y="679075"/>
                  </a:cubicBezTo>
                  <a:lnTo>
                    <a:pt x="79620" y="679075"/>
                  </a:lnTo>
                  <a:cubicBezTo>
                    <a:pt x="58503" y="679075"/>
                    <a:pt x="38252" y="670686"/>
                    <a:pt x="23320" y="655755"/>
                  </a:cubicBezTo>
                  <a:cubicBezTo>
                    <a:pt x="8388" y="640823"/>
                    <a:pt x="0" y="620572"/>
                    <a:pt x="0" y="599455"/>
                  </a:cubicBezTo>
                  <a:lnTo>
                    <a:pt x="0" y="79620"/>
                  </a:lnTo>
                  <a:cubicBezTo>
                    <a:pt x="0" y="35647"/>
                    <a:pt x="35647" y="0"/>
                    <a:pt x="7962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8F8F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71450"/>
              <a:ext cx="1306084" cy="85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5</a:t>
              </a:r>
            </a:p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Visualisation des données avec PowerBI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74007" y="5251259"/>
            <a:ext cx="4844626" cy="2578363"/>
            <a:chOff x="0" y="0"/>
            <a:chExt cx="1275951" cy="6790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5951" cy="679075"/>
            </a:xfrm>
            <a:custGeom>
              <a:avLst/>
              <a:gdLst/>
              <a:ahLst/>
              <a:cxnLst/>
              <a:rect r="r" b="b" t="t" l="l"/>
              <a:pathLst>
                <a:path h="679075" w="1275951">
                  <a:moveTo>
                    <a:pt x="81500" y="0"/>
                  </a:moveTo>
                  <a:lnTo>
                    <a:pt x="1194451" y="0"/>
                  </a:lnTo>
                  <a:cubicBezTo>
                    <a:pt x="1239462" y="0"/>
                    <a:pt x="1275951" y="36489"/>
                    <a:pt x="1275951" y="81500"/>
                  </a:cubicBezTo>
                  <a:lnTo>
                    <a:pt x="1275951" y="597575"/>
                  </a:lnTo>
                  <a:cubicBezTo>
                    <a:pt x="1275951" y="619190"/>
                    <a:pt x="1267364" y="639920"/>
                    <a:pt x="1252080" y="655204"/>
                  </a:cubicBezTo>
                  <a:cubicBezTo>
                    <a:pt x="1236796" y="670488"/>
                    <a:pt x="1216066" y="679075"/>
                    <a:pt x="1194451" y="679075"/>
                  </a:cubicBezTo>
                  <a:lnTo>
                    <a:pt x="81500" y="679075"/>
                  </a:lnTo>
                  <a:cubicBezTo>
                    <a:pt x="59885" y="679075"/>
                    <a:pt x="39155" y="670488"/>
                    <a:pt x="23871" y="655204"/>
                  </a:cubicBezTo>
                  <a:cubicBezTo>
                    <a:pt x="8587" y="639920"/>
                    <a:pt x="0" y="619190"/>
                    <a:pt x="0" y="597575"/>
                  </a:cubicBezTo>
                  <a:lnTo>
                    <a:pt x="0" y="81500"/>
                  </a:lnTo>
                  <a:cubicBezTo>
                    <a:pt x="0" y="59885"/>
                    <a:pt x="8587" y="39155"/>
                    <a:pt x="23871" y="23871"/>
                  </a:cubicBezTo>
                  <a:cubicBezTo>
                    <a:pt x="39155" y="8587"/>
                    <a:pt x="59885" y="0"/>
                    <a:pt x="815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8F8F8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71450"/>
              <a:ext cx="1275951" cy="85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6</a:t>
              </a:r>
            </a:p>
            <a:p>
              <a:pPr algn="ctr">
                <a:lnSpc>
                  <a:spcPts val="5949"/>
                </a:lnSpc>
              </a:pPr>
              <a:r>
                <a:rPr lang="en-US" sz="3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1757878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97880" y="8505665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659461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935418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46251" y="2204085"/>
            <a:ext cx="6430611" cy="244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</a:pPr>
            <a:r>
              <a:rPr lang="en-US" sz="231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Contexte : Analyse des données liées au VIH.</a:t>
            </a:r>
          </a:p>
          <a:p>
            <a:pPr algn="ctr">
              <a:lnSpc>
                <a:spcPts val="3927"/>
              </a:lnSpc>
            </a:pPr>
            <a:r>
              <a:rPr lang="en-US" sz="231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Besoin de l’OMS : mieux comprendre l’évolution et optimiser la prise de décision.</a:t>
            </a:r>
          </a:p>
          <a:p>
            <a:pPr algn="ctr">
              <a:lnSpc>
                <a:spcPts val="3927"/>
              </a:lnSpc>
            </a:pPr>
            <a:r>
              <a:rPr lang="en-US" b="true" sz="231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Développement d’une application avec ETL + Power BI.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029200"/>
            <a:ext cx="6364585" cy="292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</a:pPr>
            <a:r>
              <a:rPr lang="en-US" sz="2314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Objectif : Collecter, nettoyer, analyser et visualiser </a:t>
            </a:r>
            <a:r>
              <a:rPr lang="en-US" sz="2314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</a:t>
            </a:r>
            <a:r>
              <a:rPr lang="en-US" sz="2314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données sur le VIH.</a:t>
            </a:r>
          </a:p>
          <a:p>
            <a:pPr algn="ctr">
              <a:lnSpc>
                <a:spcPts val="3934"/>
              </a:lnSpc>
            </a:pPr>
            <a:r>
              <a:rPr lang="en-US" sz="2314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Analyser et visualiser les tendances épidémiologiques.</a:t>
            </a:r>
          </a:p>
          <a:p>
            <a:pPr algn="ctr">
              <a:lnSpc>
                <a:spcPts val="3934"/>
              </a:lnSpc>
            </a:pPr>
            <a:r>
              <a:rPr lang="en-US" b="true" sz="2314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Fournir un outil d’aide à la décision pour les chercheurs et décideurs.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2583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196817"/>
            <a:ext cx="16230600" cy="6864375"/>
          </a:xfrm>
          <a:custGeom>
            <a:avLst/>
            <a:gdLst/>
            <a:ahLst/>
            <a:cxnLst/>
            <a:rect r="r" b="b" t="t" l="l"/>
            <a:pathLst>
              <a:path h="6864375" w="16230600">
                <a:moveTo>
                  <a:pt x="0" y="0"/>
                </a:moveTo>
                <a:lnTo>
                  <a:pt x="16230600" y="0"/>
                </a:lnTo>
                <a:lnTo>
                  <a:pt x="16230600" y="6864374"/>
                </a:lnTo>
                <a:lnTo>
                  <a:pt x="0" y="6864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1371561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Modèles de données &amp; Base de données (MCD)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2583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371561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Modèles de données &amp; Base de données (MLD)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85826"/>
            <a:ext cx="16230600" cy="543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pays (id_pays PK, nom, region)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statistique (id_statistique PK, id_pays FK, annee, id_type_statistique FK, valeur, id_unite FK)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traitement (id_traitement PK, id_pays FK, annee, id_type_traitement FK, couverture)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type_traitement (id_type_traitement PK, libelle)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population_hiv (id_population_hiv PK, id_pays FK, annee, population_hiv)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mortalite (id_mortalite PK, id_pays FK, annee, nombre_deces)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transmission_mere_enfant (id_transmission PK, id_pays FK, annee, taux_transmission)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type_statistique (id_type_statistique PK, libelle)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sz="2858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unite (id_unite PK, libelle)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2583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371561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Modèles de données &amp; Base de données (MPD)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290763"/>
            <a:ext cx="12576114" cy="6676482"/>
          </a:xfrm>
          <a:custGeom>
            <a:avLst/>
            <a:gdLst/>
            <a:ahLst/>
            <a:cxnLst/>
            <a:rect r="r" b="b" t="t" l="l"/>
            <a:pathLst>
              <a:path h="6676482" w="12576114">
                <a:moveTo>
                  <a:pt x="0" y="0"/>
                </a:moveTo>
                <a:lnTo>
                  <a:pt x="12576114" y="0"/>
                </a:lnTo>
                <a:lnTo>
                  <a:pt x="12576114" y="6676482"/>
                </a:lnTo>
                <a:lnTo>
                  <a:pt x="0" y="6676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147" r="-1481" b="-614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2583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3331473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979211" y="1260950"/>
            <a:ext cx="7765099" cy="7765099"/>
          </a:xfrm>
          <a:custGeom>
            <a:avLst/>
            <a:gdLst/>
            <a:ahLst/>
            <a:cxnLst/>
            <a:rect r="r" b="b" t="t" l="l"/>
            <a:pathLst>
              <a:path h="7765099" w="7765099">
                <a:moveTo>
                  <a:pt x="0" y="0"/>
                </a:moveTo>
                <a:lnTo>
                  <a:pt x="7765099" y="0"/>
                </a:lnTo>
                <a:lnTo>
                  <a:pt x="7765099" y="7765100"/>
                </a:lnTo>
                <a:lnTo>
                  <a:pt x="0" y="776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59" r="0" b="-3635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1371561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Processus ETL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24066"/>
            <a:ext cx="5589040" cy="56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Pourquoi avoir choisi Pandas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95139"/>
            <a:ext cx="5589040" cy="56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Quels sont les avantages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368161"/>
            <a:ext cx="5589040" cy="56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Est-ce facile d’utilisation 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2583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3331473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371561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Processus ETL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48017"/>
            <a:ext cx="16230600" cy="482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285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Étapes du traitement des données :</a:t>
            </a:r>
          </a:p>
          <a:p>
            <a:pPr algn="just" marL="617192" indent="-308596" lvl="1">
              <a:lnSpc>
                <a:spcPts val="4859"/>
              </a:lnSpc>
              <a:buFont typeface="Arial"/>
              <a:buChar char="•"/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Extraction : Chargement des fichiers CSV/JSON</a:t>
            </a:r>
          </a:p>
          <a:p>
            <a:pPr algn="just" marL="617192" indent="-308596" lvl="1">
              <a:lnSpc>
                <a:spcPts val="4859"/>
              </a:lnSpc>
              <a:buFont typeface="Arial"/>
              <a:buChar char="•"/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Transformation :</a:t>
            </a:r>
          </a:p>
          <a:p>
            <a:pPr algn="just" marL="1234383" indent="-411461" lvl="2">
              <a:lnSpc>
                <a:spcPts val="4859"/>
              </a:lnSpc>
              <a:buFont typeface="Arial"/>
              <a:buChar char="⚬"/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Renommage des colonnes, suppression des espaces et normalisation</a:t>
            </a:r>
          </a:p>
          <a:p>
            <a:pPr algn="just" marL="1234383" indent="-411461" lvl="2">
              <a:lnSpc>
                <a:spcPts val="4859"/>
              </a:lnSpc>
              <a:buFont typeface="Arial"/>
              <a:buChar char="⚬"/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Suppression des doublons</a:t>
            </a:r>
          </a:p>
          <a:p>
            <a:pPr algn="just" marL="1234383" indent="-411461" lvl="2">
              <a:lnSpc>
                <a:spcPts val="4859"/>
              </a:lnSpc>
              <a:buFont typeface="Arial"/>
              <a:buChar char="⚬"/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Structuration des types de données</a:t>
            </a:r>
          </a:p>
          <a:p>
            <a:pPr algn="just" marL="617192" indent="-308596" lvl="1">
              <a:lnSpc>
                <a:spcPts val="4859"/>
              </a:lnSpc>
              <a:buFont typeface="Arial"/>
              <a:buChar char="•"/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Chargement : Intégration dans la base relationnelle</a:t>
            </a:r>
          </a:p>
          <a:p>
            <a:pPr algn="just">
              <a:lnSpc>
                <a:spcPts val="48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961608"/>
            <a:ext cx="5444886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237833"/>
            <a:ext cx="10986095" cy="7592716"/>
          </a:xfrm>
          <a:custGeom>
            <a:avLst/>
            <a:gdLst/>
            <a:ahLst/>
            <a:cxnLst/>
            <a:rect r="r" b="b" t="t" l="l"/>
            <a:pathLst>
              <a:path h="7592716" w="10986095">
                <a:moveTo>
                  <a:pt x="0" y="0"/>
                </a:moveTo>
                <a:lnTo>
                  <a:pt x="10986095" y="0"/>
                </a:lnTo>
                <a:lnTo>
                  <a:pt x="10986095" y="7592716"/>
                </a:lnTo>
                <a:lnTo>
                  <a:pt x="0" y="7592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97" r="-380" b="-21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Processus ETL (Extraction)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79303" y="958065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7077531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425175"/>
            <a:ext cx="15799133" cy="6833125"/>
          </a:xfrm>
          <a:custGeom>
            <a:avLst/>
            <a:gdLst/>
            <a:ahLst/>
            <a:cxnLst/>
            <a:rect r="r" b="b" t="t" l="l"/>
            <a:pathLst>
              <a:path h="6833125" w="15799133">
                <a:moveTo>
                  <a:pt x="0" y="0"/>
                </a:moveTo>
                <a:lnTo>
                  <a:pt x="15799133" y="0"/>
                </a:lnTo>
                <a:lnTo>
                  <a:pt x="15799133" y="6833125"/>
                </a:lnTo>
                <a:lnTo>
                  <a:pt x="0" y="683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Processus ETL (Transformation)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79303" y="958065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716126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9407" y="2008986"/>
            <a:ext cx="6414782" cy="6526587"/>
          </a:xfrm>
          <a:custGeom>
            <a:avLst/>
            <a:gdLst/>
            <a:ahLst/>
            <a:cxnLst/>
            <a:rect r="r" b="b" t="t" l="l"/>
            <a:pathLst>
              <a:path h="6526587" w="6414782">
                <a:moveTo>
                  <a:pt x="0" y="0"/>
                </a:moveTo>
                <a:lnTo>
                  <a:pt x="6414783" y="0"/>
                </a:lnTo>
                <a:lnTo>
                  <a:pt x="6414783" y="6526587"/>
                </a:lnTo>
                <a:lnTo>
                  <a:pt x="0" y="6526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API &amp; Manipulation des données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13399"/>
            <a:ext cx="7161260" cy="298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  <a:spcBef>
                <a:spcPct val="0"/>
              </a:spcBef>
            </a:pPr>
            <a:r>
              <a:rPr lang="en-US" b="true" sz="282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Environnement choisi : Python (FastAPI, SQLAlchemy, Pydantic, PyMySQL)</a:t>
            </a:r>
          </a:p>
          <a:p>
            <a:pPr algn="ctr">
              <a:lnSpc>
                <a:spcPts val="4808"/>
              </a:lnSpc>
              <a:spcBef>
                <a:spcPct val="0"/>
              </a:spcBef>
            </a:pPr>
            <a:r>
              <a:rPr lang="en-US" b="true" sz="282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Mise en place des modèles : représentation des tables BDD avec SQLAlchemy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79303" y="958065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961608"/>
            <a:ext cx="716126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283383" y="3512546"/>
            <a:ext cx="10135918" cy="4240482"/>
          </a:xfrm>
          <a:custGeom>
            <a:avLst/>
            <a:gdLst/>
            <a:ahLst/>
            <a:cxnLst/>
            <a:rect r="r" b="b" t="t" l="l"/>
            <a:pathLst>
              <a:path h="4240482" w="10135918">
                <a:moveTo>
                  <a:pt x="0" y="0"/>
                </a:moveTo>
                <a:lnTo>
                  <a:pt x="10135918" y="0"/>
                </a:lnTo>
                <a:lnTo>
                  <a:pt x="10135918" y="4240482"/>
                </a:lnTo>
                <a:lnTo>
                  <a:pt x="0" y="4240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6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API &amp; Manipulation des données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56462"/>
            <a:ext cx="4522045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Endpoints CRUD (Create, Read, Update, Delete)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Documentation interactive avec Swagger et ReDoc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961608"/>
            <a:ext cx="716126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955680" y="1836061"/>
            <a:ext cx="7846328" cy="7658008"/>
          </a:xfrm>
          <a:custGeom>
            <a:avLst/>
            <a:gdLst/>
            <a:ahLst/>
            <a:cxnLst/>
            <a:rect r="r" b="b" t="t" l="l"/>
            <a:pathLst>
              <a:path h="7658008" w="7846328">
                <a:moveTo>
                  <a:pt x="0" y="0"/>
                </a:moveTo>
                <a:lnTo>
                  <a:pt x="7846328" y="0"/>
                </a:lnTo>
                <a:lnTo>
                  <a:pt x="7846328" y="7658008"/>
                </a:lnTo>
                <a:lnTo>
                  <a:pt x="0" y="7658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74" r="0" b="-4042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Visualisation des données avec PowerBI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45631"/>
            <a:ext cx="5589040" cy="56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Pourquoi avoir choisi PowerBI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16704"/>
            <a:ext cx="5589040" cy="56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Quels sont les avantages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89726"/>
            <a:ext cx="5589040" cy="56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9"/>
              </a:lnSpc>
              <a:spcBef>
                <a:spcPct val="0"/>
              </a:spcBef>
            </a:pPr>
            <a:r>
              <a:rPr lang="en-US" b="true" sz="285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Est-ce facile d’utilisation 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961608"/>
            <a:ext cx="716126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Visualisation des données avec PowerBI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961608"/>
            <a:ext cx="716126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28351"/>
            <a:ext cx="16651960" cy="5349442"/>
          </a:xfrm>
          <a:custGeom>
            <a:avLst/>
            <a:gdLst/>
            <a:ahLst/>
            <a:cxnLst/>
            <a:rect r="r" b="b" t="t" l="l"/>
            <a:pathLst>
              <a:path h="5349442" w="16651960">
                <a:moveTo>
                  <a:pt x="0" y="0"/>
                </a:moveTo>
                <a:lnTo>
                  <a:pt x="16651960" y="0"/>
                </a:lnTo>
                <a:lnTo>
                  <a:pt x="16651960" y="5349442"/>
                </a:lnTo>
                <a:lnTo>
                  <a:pt x="0" y="534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52012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Méthodologie et Gestion de Projet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115348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77100" y="4093336"/>
            <a:ext cx="11133800" cy="264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sz="250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50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tructuration des données, visualisation interactive, API fonctionnelle</a:t>
            </a:r>
          </a:p>
          <a:p>
            <a:pPr algn="ctr">
              <a:lnSpc>
                <a:spcPts val="4263"/>
              </a:lnSpc>
            </a:pPr>
            <a:r>
              <a:rPr lang="en-US" sz="250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Axes d’amélioration :</a:t>
            </a:r>
          </a:p>
          <a:p>
            <a:pPr algn="ctr">
              <a:lnSpc>
                <a:spcPts val="4263"/>
              </a:lnSpc>
            </a:pPr>
            <a:r>
              <a:rPr lang="en-US" sz="250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Intégration de nouvelles sources de données</a:t>
            </a:r>
          </a:p>
          <a:p>
            <a:pPr algn="ctr">
              <a:lnSpc>
                <a:spcPts val="4263"/>
              </a:lnSpc>
            </a:pPr>
            <a:r>
              <a:rPr lang="en-US" sz="250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Amélioration des modèles prédictifs</a:t>
            </a:r>
          </a:p>
          <a:p>
            <a:pPr algn="ctr" marL="0" indent="0" lvl="0">
              <a:lnSpc>
                <a:spcPts val="4263"/>
              </a:lnSpc>
            </a:pPr>
            <a:r>
              <a:rPr lang="en-US" sz="2507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Extension à d’autres maladies infectieuses</a:t>
            </a:r>
          </a:p>
        </p:txBody>
      </p:sp>
      <p:sp>
        <p:nvSpPr>
          <p:cNvPr name="AutoShape 4" id="4"/>
          <p:cNvSpPr/>
          <p:nvPr/>
        </p:nvSpPr>
        <p:spPr>
          <a:xfrm>
            <a:off x="5897880" y="2783342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1684924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6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Merci !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DAGgNpKKWAE</dc:identifier>
  <dcterms:modified xsi:type="dcterms:W3CDTF">2011-08-01T06:04:30Z</dcterms:modified>
  <cp:revision>1</cp:revision>
  <dc:title>diapo mspr</dc:title>
</cp:coreProperties>
</file>